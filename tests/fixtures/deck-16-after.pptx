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01" r:id="rId15"/>
  </p:sldIdLst>
  <p:sldSz cx="12192000" cy="6858000"/>
  <p:notesSz cx="6858000" cy="9144000"/>
  <p:embeddedFontLst>
    <p:embeddedFont>
      <p:font typeface="Inter" panose="02000503000000020004" pitchFamily="2" charset="0"/>
      <p:regular r:id="rId32"/>
      <p:bold r:id="rId33"/>
      <p:italic r:id="rId34"/>
      <p:boldItalic r:id="rId35"/>
    </p:embeddedFont>
    <p:embeddedFont>
      <p:font typeface="Inter SemiBold" panose="02000503000000020004" pitchFamily="2" charset="0"/>
      <p:bold r:id="rId36"/>
    </p:embeddedFont>
    <p:embeddedFont>
      <p:font typeface="KONE Information" panose="020B0603040000020003" pitchFamily="34" charset="-79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523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852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5" Type="http://schemas.openxmlformats.org/officeDocument/2006/relationships/slide" Target="slides/slide1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8/10/relationships/authors" Target="authors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22B7-12BE-4814-9BF9-CF0C92ACA324}" type="datetime1">
              <a:rPr lang="en-GB" sz="900" smtClean="0"/>
              <a:t>23/07/2026</a:t>
            </a:fld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900" smtClean="0"/>
              <a:t>‹#›</a:t>
            </a:fld>
            <a:endParaRPr lang="en-GB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DA245902-357C-4DB6-A169-6A42642CA7C0}" type="datetime1">
              <a:rPr lang="en-GB" smtClean="0"/>
              <a:t>23/07/2026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Relationship Id="rId4" Type="http://schemas.openxmlformats.org/officeDocument/2006/relationships/image" Target="../media/image8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E56AE-F93B-3A82-4B1F-0864FE95C3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5" name="Tagline">
            <a:extLst>
              <a:ext uri="{FF2B5EF4-FFF2-40B4-BE49-F238E27FC236}">
                <a16:creationId xmlns:a16="http://schemas.microsoft.com/office/drawing/2014/main" id="{6633AAE2-0757-ABFB-DFAE-D8049C180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6887-0250-80F2-C728-8664557D7D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B8677B2-F8C6-4B8C-A98C-5F2D63AC5F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08111-67B9-5864-C810-CF4871B1C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21AF202-586B-42C8-D129-41F46C0170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B0351BF-602B-98FD-04C1-7A5DCCB8E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66E48D-DBFB-AD92-6073-15C3BBC633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341312C-F179-411C-BDB3-57F19742B8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9E3BE3-F0EB-96BA-89DD-BCA90A71AE2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4BC1135-78CB-7181-0264-9AC96D5B8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A00F-3D79-2156-B985-55FC0726F7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EC3846C-9635-4F43-AC58-2C32B88FB8C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4" name="Tagline">
            <a:extLst>
              <a:ext uri="{FF2B5EF4-FFF2-40B4-BE49-F238E27FC236}">
                <a16:creationId xmlns:a16="http://schemas.microsoft.com/office/drawing/2014/main" id="{A82E153D-3DA2-52C3-4E58-E1588B08C5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E6B5-260D-D22F-CDC6-100184A9E4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46DDB7-75C9-F527-096E-003F036DB0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62AB56-683B-4F73-898B-02A0240F7996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815B9F30-A1C0-8571-7A33-D7C70DF6EB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F3A3-E857-82E4-0DC4-273360C2E1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35D144F5-6F84-AA91-451A-1025B96172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5280" y="0"/>
            <a:ext cx="5896720" cy="4644000"/>
          </a:xfrm>
          <a:custGeom>
            <a:avLst/>
            <a:gdLst>
              <a:gd name="connsiteX0" fmla="*/ 3143920 w 5896720"/>
              <a:gd name="connsiteY0" fmla="*/ 0 h 4644000"/>
              <a:gd name="connsiteX1" fmla="*/ 5896720 w 5896720"/>
              <a:gd name="connsiteY1" fmla="*/ 0 h 4644000"/>
              <a:gd name="connsiteX2" fmla="*/ 5896720 w 5896720"/>
              <a:gd name="connsiteY2" fmla="*/ 4644000 h 4644000"/>
              <a:gd name="connsiteX3" fmla="*/ 3143920 w 5896720"/>
              <a:gd name="connsiteY3" fmla="*/ 4644000 h 4644000"/>
              <a:gd name="connsiteX4" fmla="*/ 0 w 5896720"/>
              <a:gd name="connsiteY4" fmla="*/ 0 h 4644000"/>
              <a:gd name="connsiteX5" fmla="*/ 2747920 w 5896720"/>
              <a:gd name="connsiteY5" fmla="*/ 0 h 4644000"/>
              <a:gd name="connsiteX6" fmla="*/ 2747920 w 5896720"/>
              <a:gd name="connsiteY6" fmla="*/ 3536725 h 4644000"/>
              <a:gd name="connsiteX7" fmla="*/ 0 w 5896720"/>
              <a:gd name="connsiteY7" fmla="*/ 3536725 h 46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720" h="4644000">
                <a:moveTo>
                  <a:pt x="3143920" y="0"/>
                </a:moveTo>
                <a:lnTo>
                  <a:pt x="5896720" y="0"/>
                </a:lnTo>
                <a:lnTo>
                  <a:pt x="5896720" y="4644000"/>
                </a:lnTo>
                <a:lnTo>
                  <a:pt x="3143920" y="4644000"/>
                </a:lnTo>
                <a:close/>
                <a:moveTo>
                  <a:pt x="0" y="0"/>
                </a:moveTo>
                <a:lnTo>
                  <a:pt x="2747920" y="0"/>
                </a:lnTo>
                <a:lnTo>
                  <a:pt x="2747920" y="3536725"/>
                </a:lnTo>
                <a:lnTo>
                  <a:pt x="0" y="3536725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3168000" tIns="0" anchor="ctr" anchorCtr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F6A7-92A2-AA14-3C8B-5550669C2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5B0C8-D9E9-41D2-8E25-3E96E8092C88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C4631EBB-BCCA-9772-71E0-1F1D7B401F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060FB-3310-98A7-57F4-78B4341F59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1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264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8B04237-93E9-2A83-D3FD-51334880D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366ADC-C142-4C38-8B82-58BD11CFE87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6" name="Tagline Placeholder 9">
            <a:extLst>
              <a:ext uri="{FF2B5EF4-FFF2-40B4-BE49-F238E27FC236}">
                <a16:creationId xmlns:a16="http://schemas.microsoft.com/office/drawing/2014/main" id="{C92D76CC-B0DB-7004-9A7C-05178E55E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226" y="6035426"/>
            <a:ext cx="1268011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196-87BD-4F24-D4E8-88C1C61EFA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id="{1F95E159-5DC6-5281-03F6-81FA3A49180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27888" y="0"/>
            <a:ext cx="4965312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492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728493"/>
            <a:ext cx="5500688" cy="4264320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41414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9" name="Logo Placeholder 9">
            <a:extLst>
              <a:ext uri="{FF2B5EF4-FFF2-40B4-BE49-F238E27FC236}">
                <a16:creationId xmlns:a16="http://schemas.microsoft.com/office/drawing/2014/main" id="{A8446264-65F7-50E8-101F-16D851063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4953A64-F296-B8C4-E472-915A7AB133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AB1455-E7F4-13CA-4E4B-5EA74ED886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7A55-6DFF-8810-13BD-74293F7DA73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727601"/>
            <a:ext cx="792000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00:00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01762" y="1727601"/>
            <a:ext cx="4530725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point, one line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2CF03C-775B-9CEC-DDF4-B4B4D431168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527606D-AF65-44AC-B6B8-D7FB28FAFE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419E34-5713-02D9-7C34-B1C4B3F096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353B-7C2A-6F34-3538-7EDFCB3C532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FC9A1BA-7221-3437-C50A-A8C3B38BB1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999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D1017B-5B93-51A9-55B3-ED901BAC8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4824" y="863601"/>
            <a:ext cx="5502276" cy="5129212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B3697-5A10-3954-BA5B-20BE868C8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BACF6F-EE42-438C-B9D6-4EC9BC1A039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DB83AA-C7F5-3811-A406-CF7545F6CE4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D356A-C127-FB33-B378-582BA8F87D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A3B49E2-9E84-91C3-98CA-04B09D4BCD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numberin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4825" y="863600"/>
            <a:ext cx="5502275" cy="51292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6518A5-9FAA-712E-01B8-639ADF417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31800" y="863600"/>
            <a:ext cx="3559175" cy="5129213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9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5898B-D014-FEF8-76FB-CD7EFBDBEE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9C7805-947D-494A-B9CE-079065BCB7F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15F9E2-0B99-7A51-9C5E-B08CBFF6D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BB8A15-47A1-6043-EE6C-737565CB6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3D94-964E-D1A3-7591-4324D5CC73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585EFDD-1BE3-41F7-8EA3-6527C9483E0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A3AA-D261-55B8-5B90-FA3A9497A7B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8593C1-5DDB-15C0-F22A-0D07BD09E4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3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bg>
      <p:bgPr>
        <a:solidFill>
          <a:srgbClr val="FFCD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858F0-1785-72FD-D321-713A598D7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CD8B827-E528-4113-BCCE-1033716C8A4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2296-451F-F708-169F-BE02BE9CE4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09D84-863D-9742-C257-72CC58075F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FEDA-5D8F-4472-AE64-1F75A9CBEDC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535FCDD-347F-4F43-97BE-D9AE0412B32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8B97-07B4-4391-2950-576BB23CE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5AFE99-0C7F-B5D4-26E6-721E0D4326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3558975" cy="42656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86375" y="1295399"/>
            <a:ext cx="6472037" cy="4265613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paste copied KONE icon or KONE illustration                        (see slides in the end of the presentation)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436633-BBBA-0984-F2D7-081A410FDA3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402555" y="6271200"/>
            <a:ext cx="1617663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fld id="{C38F3DA6-9EA3-44F3-A9A6-059BE164AA0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1C10E4-D76F-BD9C-4317-9C6E675E7D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31800" y="6271200"/>
            <a:ext cx="648499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pPr algn="l"/>
            <a:fld id="{23AA811B-2EBD-4900-905E-5BE206449611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3" name="Tagline">
            <a:extLst>
              <a:ext uri="{FF2B5EF4-FFF2-40B4-BE49-F238E27FC236}">
                <a16:creationId xmlns:a16="http://schemas.microsoft.com/office/drawing/2014/main" id="{FCA395D3-4399-25BD-36DA-4C05E7B8AE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074-812E-82E9-3CE3-4971846D80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44863" y="6271200"/>
            <a:ext cx="355924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just titl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535F61-80F7-FEAD-C0B1-B205E614A4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3F10-785E-74E3-41C9-A32A0FC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C48F-08E1-40B5-8BD1-04B1C34134D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0BE-B639-C6FF-F3E9-5B3703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57EBA-4629-14FF-9DD2-F34CC946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29AC5F4-D652-D6EC-6B17-EF0CF243CD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28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9BD4-4D39-2DFD-3452-2B27088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71B5-4674-4B04-8EB6-0B35CE4D31E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C40B8-E555-B912-7D74-AEFEAFE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19DB-0A1C-D31A-F3F3-8E4447B4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3364F2-0EA0-234E-7BC9-E8DF25E6AD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64768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1511882"/>
            <a:ext cx="8736338" cy="33854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604D4D7-44C9-D0B0-8881-4766DF7C87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6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2"/>
            <a:ext cx="8737400" cy="584612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4000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368846"/>
            <a:ext cx="8736338" cy="338542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cap="all" baseline="0">
                <a:solidFill>
                  <a:srgbClr val="1450F5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745A831-2F0F-142B-7A77-7C02C4F751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15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2160000"/>
            <a:ext cx="5500688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9514" y="2160000"/>
            <a:ext cx="550148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ED8-9330-4118-88BE-11A30FFD7FA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A89E774-2464-2A29-0AC6-D867370F04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1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112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CAC6-7E1E-437B-98A1-71C04751BE3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148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023AB5E-21C9-E39C-13CD-BE095656A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3560400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199"/>
            <a:ext cx="744277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CF8E-BEA5-49D6-9EEB-D2C388E49C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4C0103B-0E28-FA6A-2D1E-C523A53A42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8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0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59999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59999"/>
            <a:ext cx="7442775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C0E1-1BCD-4AEC-90FF-0EAD2019F53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F7B231-0338-08B1-A6A5-9318190E0F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13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00FB025-1459-4F5A-B4E2-F32A8127E67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ADA4EA1-54A4-5AF6-6248-DB2EF68273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B58FE7-8D6F-4ED8-B566-1CE1D7B7979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C7ED62A-EDD7-D5A0-E200-80AD55665B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D5AADE4-FF53-4C7F-9CA3-5BD6767BE0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765F2F6-BD68-9BD6-6E5C-8BF4E69894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AA6DB2-E736-451A-86F1-1796C238F2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8FD27A1-FB85-F7FD-F51B-85DFBC973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5029-5E8C-01A6-527F-9856D0853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0310"/>
            <a:ext cx="355917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6375" y="1296000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6374" y="3805925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2586710"/>
            <a:ext cx="3559175" cy="3408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99438" y="1296000"/>
            <a:ext cx="3559421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96837" y="3805925"/>
            <a:ext cx="3560763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CA437E-B9E9-6E96-C918-140C31215EC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6AE01A-3E9C-45AD-8FF2-AD12D426AF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3FA518-74A4-049B-B657-631FB56E36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0149EE-DBF1-636D-84BA-A543C7D608C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BBAFA7D-9B89-6A14-CD33-FD654EAC0C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4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712B-4E71-D432-07E8-176AED5BF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7200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7200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ACEEC-FBDD-4434-C252-D718F2800E7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3E73D4-C8CD-49C2-9B93-446187B5812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4BEAB8-67C2-FEB2-B84D-7CA461A8C2C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40D61E-53EF-7DF5-0A8B-5AF2168ADC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B7C8CE4-85E1-157F-ABB7-C96BAFD1B3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6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CBBC1B-7DB9-FFF8-7936-68B9FD809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9387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9387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D84BC30-2E53-95BB-159A-27022A86E7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A501290-3DB8-4FBF-85FF-74D7D57F4A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63327-8549-BFBC-C12F-0F2EE4CEB9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BBE820-A6DC-772D-F054-F8C66D66D8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74519A9-6173-3C01-2E63-A1EAFA6CF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3559421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4211999"/>
            <a:ext cx="3560763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4211999"/>
            <a:ext cx="3559175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3559421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14824" y="1296000"/>
            <a:ext cx="3560763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99437" y="1296000"/>
            <a:ext cx="355917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4986-31E7-BAE8-CA1B-F5B4CBF5C3E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4FA8394-B24F-4012-8AE0-19DD34A4F4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B38A3-76D1-5B2E-34F6-B428F29B8E9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98BB5F-632D-E279-A632-26AB519DE7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304DF20-B93E-FE60-B633-7687AC79CC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67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7C6C78-AA9F-E189-5122-109D0D23B3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0174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258742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443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567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7DFC0363-CB96-D528-E468-26416AB6B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70174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BE0F-04F9-2690-DFB4-0F6ACCF1B10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BCE9A6C-6F78-4866-80B7-33609228B9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00B170-AC5D-EAC3-2320-3B4DFD1B16D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6D2885-B2E8-0040-99BE-F80685F94A0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E8106FF-3137-A6D8-75D8-87C143FB86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1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27888" y="0"/>
            <a:ext cx="4964112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275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275"/>
            <a:ext cx="5500488" cy="38335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Enter &amp; TAB to view next text style                         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D723CC-C5EC-1B89-E2EB-8AB617A6BEE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93AA36F-07E0-4F73-B4DA-843D602159D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96B61E-4F55-158A-C4D7-E0F9A0FA89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B29ED6-1D0A-E571-379F-406766840D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74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48094B-5847-F423-0863-6965AED232F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7BC057B-20B4-4810-9779-357E9678FD3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8E7F373-4EF5-1B08-D6D0-2BED222C6BF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B31CAA-1E21-144C-14AA-55C00871F6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80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39726C-2352-E5B0-37A7-FDA710E1F2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C0C69A-09B6-92AF-CEDB-A406E55050C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AEE34-85CE-DB94-DFA5-A1D8E59B49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249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04038" y="0"/>
            <a:ext cx="5287961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865" y="2159599"/>
            <a:ext cx="2587424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A0F82-1F04-1433-780D-43245296694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6F559AB-4E19-49CB-922A-0AF5EE505EA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97C4B-7D31-8BD7-17D6-39126FAAEF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388408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02068-5840-6383-7A3E-9105714A8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35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5CE144D-A48B-B651-6421-2E3839D1015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B8BB80-B438-4D7F-B43E-241BC67D20F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3BBAE-C30C-E8E8-585D-15B666127A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F83F022-3943-A7D5-E55F-3A04F038999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53BCA-6A78-D761-D137-762E30CAF56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9FD7A8E-23DD-4730-951E-506AFAA97F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6078F26-F7AC-1049-FBAA-9B6D1212425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681B75-6E63-9592-329F-10AFD1F202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07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838759A4-5A07-B197-1979-E5734155B68E}"/>
              </a:ext>
            </a:extLst>
          </p:cNvPr>
          <p:cNvSpPr/>
          <p:nvPr userDrawn="1"/>
        </p:nvSpPr>
        <p:spPr>
          <a:xfrm flipH="1">
            <a:off x="3990974" y="-1"/>
            <a:ext cx="8201025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32000" y="863599"/>
            <a:ext cx="2587425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94E8E04-B718-4B51-3AA6-9AEE559BC1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8163" y="863599"/>
            <a:ext cx="4528937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9FF0-6701-A7F5-CAF0-E4EBE21C980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942A37-95FD-4159-ACCA-64050B292F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96-D719-9C2D-67E1-BC101C7A27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14824" y="6271200"/>
            <a:ext cx="550237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54B431-8F25-9151-AC22-F3B4A2A37B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434882F-14D2-116B-596C-3D34C7F539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E7AA6F-BFFE-F82D-91CB-6094E875CD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4A3C097-F404-4330-9057-E563015B653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428E3F5-812B-765C-D40C-EE734C15C0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44A73F-D508-6B1B-289D-071BDB4B58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0F67A741-2B6F-4B01-BB70-250123AA73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92E8A4-1DC1-7E19-7A7B-1BEC8823348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32FFC3C-FBBE-4BC2-9B86-14593DA16D6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496A31-36AB-1CBE-E2EB-FB3E970B4F2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C5A54F-ABA3-24FC-32D0-9A8929CE35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C205A02-C5FA-2D02-297B-B454914D0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4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FFE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2D402C-E70D-F27F-FE34-428AAC7083B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D22E539-52ED-42EF-8C4E-77642FC3892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48934-B7CF-1F66-AC02-555B7CF7B8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23C8A0-CE7C-6457-D5BB-4B6C4B8D52B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89B4036-DE21-F095-6304-E424DEE40A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AAE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2000"/>
            <a:ext cx="2587425" cy="29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2C83F8-20AE-3E19-9A0D-7BC1312237D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DF390B-A7F8-4DD2-9596-2249D88844A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92BB4F-4B38-08A3-AF24-AED8916FC2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12F855-F51A-F62F-2C0E-BBA6E830676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2CB7C465-163F-71D9-5229-E5543672A3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8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D2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41B102-E610-127C-B041-7F81AE889B8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B2E2376-5A7A-40E6-88EA-759D6E2AAC1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5FD77D-59E5-67F7-D58C-B34E6ED7C7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746BEF-1234-B799-0E08-B0E57B3C4F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13806DF-5A9E-9F08-C018-250920DD5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4pt) and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710113" cy="4318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7694-2C08-CDA5-FB30-ED947262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2104-CEF1-40C1-BCF2-3A0E82B7C66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222690-853A-A5B5-6680-A5FA3302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B6DAB-7347-72B4-71DA-C337628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0DB8D2A-3840-68DF-003B-B520FE62DF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picture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D11BA8F4-B1CE-D43E-C7A4-49D237FA4EE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2935558-B22E-4907-A0EB-8F14825EC54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83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video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4868A2-D799-1A78-E721-B8741B16888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858000"/>
          </a:xfrm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media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48840A5A-F3BA-45A8-8C96-9C42C716215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2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9"/>
            <a:ext cx="11325600" cy="426501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FEC3E-6E6B-4102-7F2D-D02DABBA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4A7A-1F63-4076-91F9-53FD512D814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C2AC78-251C-03D3-ADF1-289B507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95647F-A8D8-291E-EC18-4F5FEE3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861" y="876610"/>
            <a:ext cx="9385100" cy="1476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861" y="3468610"/>
            <a:ext cx="3559421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3468610"/>
            <a:ext cx="3560763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3468610"/>
            <a:ext cx="3559175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F72AC-0AEB-CD4E-C353-516E3FCCA9D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085EEC-8B46-4882-BF92-91CE51B8DAD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56277EE-36AD-DEB4-1972-00F04ED2AF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62844C-2CF7-7E8F-5231-1181389A33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600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600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D06B-1DCC-4C16-88C1-4EC6626CBC3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13F162A-57B9-D888-A5CF-041FD8CE39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599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599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292E-454A-44B9-B98A-0C5DB9528EB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DB60543-B803-CAF9-C1DF-4D6D7E0185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145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863600"/>
            <a:ext cx="6796800" cy="5129600"/>
          </a:xfrm>
        </p:spPr>
        <p:txBody>
          <a:bodyPr anchor="t" anchorCtr="0"/>
          <a:lstStyle>
            <a:lvl1pPr algn="l">
              <a:defRPr sz="4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DBFADF-4444-E2FC-E3FF-E9B2ECB7AD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442F38-8BB2-416E-BDE1-AB8FAEA17F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E8EE1C-6D15-587A-A622-BB0B18DC72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7DF0F1-8851-4B1B-E69E-B4481A1B8F1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9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999" y="863600"/>
            <a:ext cx="3558975" cy="5129600"/>
          </a:xfrm>
        </p:spPr>
        <p:txBody>
          <a:bodyPr anchor="t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C9C3D8-A7D7-6E84-425A-13F9C95191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69400" y="1295400"/>
            <a:ext cx="2590836" cy="469741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Char char="​"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0BF9C2E-764D-C8D3-307E-2C7C64065EA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DE763E-B74F-488B-BD1C-A2D102E3301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2BE8BE-C5DA-2CFD-3512-1EAB58C26B1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270450-3A7E-0E81-5655-8CBB2BDC23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7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2587425" cy="1041400"/>
          </a:xfrm>
        </p:spPr>
        <p:txBody>
          <a:bodyPr anchor="t" anchorCtr="0"/>
          <a:lstStyle>
            <a:lvl1pPr algn="l">
              <a:defRPr sz="32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title, 2 lines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8C4A23D-C069-B4C3-BEC4-4F4A5F7B4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6167" y="1295400"/>
            <a:ext cx="6470896" cy="4265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0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2pPr>
            <a:lvl3pPr marL="18000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quotation or statement</a:t>
            </a:r>
          </a:p>
          <a:p>
            <a:pPr lvl="1"/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42DD10D-531F-A279-8C9A-40536F40654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7CAD82-A73A-49CC-819B-F8752480061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2022E-305E-D013-0604-3AB955F20E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A08871-C354-99A2-1236-7586A680F6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713A999-F824-6537-BE90-F8ED2A28F0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0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8438FD-4938-EABD-A952-419D76F3E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5992813"/>
            <a:ext cx="1617663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Name Surname add Title in next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3312" y="5992813"/>
            <a:ext cx="3559176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56D8F9B-62C4-4718-8177-E99FE077EA6B}" type="datetime3">
              <a:rPr lang="en-US" smtClean="0"/>
              <a:t>23 July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3946FFF-1566-4894-B74A-941F661FB9F4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1E1F038-8583-6F9E-29EB-F8C2D9432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049462" y="1860603"/>
            <a:ext cx="8099979" cy="31367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on frame to change picture, using the Insert tab, Pictures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49462" y="1860604"/>
            <a:ext cx="8099979" cy="313679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noFill/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</p:spTree>
    <p:extLst>
      <p:ext uri="{BB962C8B-B14F-4D97-AF65-F5344CB8AC3E}">
        <p14:creationId xmlns:p14="http://schemas.microsoft.com/office/powerpoint/2010/main" val="4931491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3560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5107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98213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E2B42F0-17CE-4291-A62D-6BBB35AE2D5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56BC16E-C4D8-1D47-02F8-7CBE22A46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hre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2588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4864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729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70213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691B107-46C2-4D5E-A4D1-6D1490D257C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315AAE8-06E5-1F02-90BC-4A6DDED49B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79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Fiv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3560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5107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07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98213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8213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84AB3C-C89B-4811-8519-DFA11D99F9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3266DD73-667B-DCF4-67BB-A5CEB165A7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even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8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44864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4864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7729" y="1296000"/>
            <a:ext cx="2587822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7729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42111F8-D026-4080-A7D1-2BD64D26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0213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BE8FA1-8429-3E59-4329-D75343EBDC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70213" y="3643200"/>
            <a:ext cx="2588400" cy="191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3FB1D18-B6A1-47AA-85AF-1BADCA51AB4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373103F-C053-E6AB-8624-1A57572688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0C35B-2366-A98F-8540-58AC4029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EFE6B-11C5-4604-A6DA-8CBF5DB9725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EB71-A8EE-CF18-807D-A4655231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4170B-C4A3-744E-C4CE-948DDA7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D583CC55-F2B7-571E-5105-2FE9888EF4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31800" y="448713"/>
            <a:ext cx="11326813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BB3B459-CDFE-44C8-879C-511BDE5A6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3785" y="1306551"/>
            <a:ext cx="2488986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apply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1600" b="0" cap="all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Colors</a:t>
            </a:r>
            <a:endParaRPr lang="en-US" sz="1600" cap="all" baseline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colors from top row and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all Custom Colors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noProof="1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6B3FBB4-61DE-493B-8F38-CB78E008D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31286" y="1306551"/>
            <a:ext cx="25780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</a:t>
            </a:r>
            <a:b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placeholders to their default settings</a:t>
            </a:r>
            <a:endParaRPr lang="en-US" altLang="da-DK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picture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17EA80A0-F605-4897-AE2A-18933CAB6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10588" y="1306551"/>
            <a:ext cx="250573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tab. Write the desired text in Footer field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(apply text on all slides)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(apply text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 or several selected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slide(s)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01896-43DD-469D-A55E-AA24E7801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6761" y="3073933"/>
            <a:ext cx="257143" cy="285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2642E-922E-4D3E-9481-C027E3A93C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6761" y="4576990"/>
            <a:ext cx="475428" cy="176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7E3D92-3923-49A5-9D66-A01D05298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901" t="45142" r="62601" b="9046"/>
          <a:stretch/>
        </p:blipFill>
        <p:spPr>
          <a:xfrm>
            <a:off x="6559342" y="2719441"/>
            <a:ext cx="341204" cy="321707"/>
          </a:xfrm>
          <a:prstGeom prst="rect">
            <a:avLst/>
          </a:prstGeom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E4BD888-DAA9-4A3B-ADD9-0ACB9540A6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6761" y="3893345"/>
            <a:ext cx="328881" cy="505501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ADF46DFB-ABDB-43BA-AD93-FDEE2D764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31756" y="1736321"/>
            <a:ext cx="538465" cy="172841"/>
          </a:xfrm>
          <a:prstGeom prst="rect">
            <a:avLst/>
          </a:prstGeom>
        </p:spPr>
      </p:pic>
      <p:pic>
        <p:nvPicPr>
          <p:cNvPr id="27" name="Picture 19">
            <a:extLst>
              <a:ext uri="{FF2B5EF4-FFF2-40B4-BE49-F238E27FC236}">
                <a16:creationId xmlns:a16="http://schemas.microsoft.com/office/drawing/2014/main" id="{CF6F40E1-EF2A-4675-A88E-429AD3ADD3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35486" y="3592844"/>
            <a:ext cx="313788" cy="543900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1EEB59ED-856C-4646-8080-8164D2973D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1712" y="1844297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255389D-CF36-4F44-B13C-FA0B1F4288A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3BD4-04BC-40A0-B801-FB79B08840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836761" y="2312091"/>
            <a:ext cx="457143" cy="257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4B430-598D-2E99-6E4B-D6C02EB952C8}"/>
              </a:ext>
            </a:extLst>
          </p:cNvPr>
          <p:cNvGrpSpPr/>
          <p:nvPr userDrawn="1"/>
        </p:nvGrpSpPr>
        <p:grpSpPr>
          <a:xfrm>
            <a:off x="2609062" y="4912403"/>
            <a:ext cx="908298" cy="1624601"/>
            <a:chOff x="2814462" y="4912403"/>
            <a:chExt cx="908298" cy="1624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8A0D89-F8AD-6CF5-B3FB-BE587B1CDB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831584" y="4912403"/>
              <a:ext cx="886146" cy="162460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A934DC-FA1A-DC70-83F7-27998B95736D}"/>
                </a:ext>
              </a:extLst>
            </p:cNvPr>
            <p:cNvGrpSpPr/>
            <p:nvPr userDrawn="1"/>
          </p:nvGrpSpPr>
          <p:grpSpPr>
            <a:xfrm>
              <a:off x="2814462" y="5039012"/>
              <a:ext cx="905404" cy="1472528"/>
              <a:chOff x="8577240" y="2433052"/>
              <a:chExt cx="1602907" cy="26065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FE5EC-D0C6-3DCA-5326-C4ABCCCF67C0}"/>
                  </a:ext>
                </a:extLst>
              </p:cNvPr>
              <p:cNvSpPr/>
              <p:nvPr userDrawn="1"/>
            </p:nvSpPr>
            <p:spPr>
              <a:xfrm>
                <a:off x="8589162" y="2433052"/>
                <a:ext cx="1590985" cy="278066"/>
              </a:xfrm>
              <a:prstGeom prst="rect">
                <a:avLst/>
              </a:prstGeom>
              <a:noFill/>
              <a:ln w="25400">
                <a:solidFill>
                  <a:srgbClr val="1ED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en-US" sz="1796" dirty="0" err="1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CC41C02-4D1D-4E89-3D88-326D877CDE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77240" y="2756927"/>
                <a:ext cx="1602906" cy="600872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9EB37F5-BB01-3A7B-EB3C-1D4F99D0E2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611332" y="2764381"/>
                <a:ext cx="1556893" cy="60913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B902546-2079-28AB-65C1-930E8477C7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89160" y="4726799"/>
                <a:ext cx="1579065" cy="31284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E48439-C4D1-F75F-D1B3-656A60CC23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589160" y="4726799"/>
                <a:ext cx="1579065" cy="22668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2180E8-F3CC-DA64-6CE6-99C382C697CF}"/>
                </a:ext>
              </a:extLst>
            </p:cNvPr>
            <p:cNvSpPr/>
            <p:nvPr userDrawn="1"/>
          </p:nvSpPr>
          <p:spPr>
            <a:xfrm>
              <a:off x="2824091" y="5633428"/>
              <a:ext cx="898669" cy="604321"/>
            </a:xfrm>
            <a:prstGeom prst="rect">
              <a:avLst/>
            </a:prstGeom>
            <a:noFill/>
            <a:ln w="25400">
              <a:solidFill>
                <a:srgbClr val="1ED2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796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87821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 dirty="0">
                <a:solidFill>
                  <a:schemeClr val="bg1"/>
                </a:solidFill>
              </a:rPr>
              <a:t>If you see any </a:t>
            </a:r>
            <a:r>
              <a:rPr lang="en-US" sz="4400" b="0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layouts after this </a:t>
            </a:r>
            <a:r>
              <a:rPr lang="en-US" sz="4400" b="0" i="0" noProof="0" dirty="0">
                <a:solidFill>
                  <a:schemeClr val="bg1"/>
                </a:solidFill>
              </a:rPr>
              <a:t>one</a:t>
            </a:r>
            <a:r>
              <a:rPr lang="en-US" sz="4400" b="1" i="1" noProof="0" dirty="0">
                <a:solidFill>
                  <a:schemeClr val="bg1"/>
                </a:solidFill>
              </a:rPr>
              <a:t>,</a:t>
            </a:r>
            <a:br>
              <a:rPr lang="en-US" sz="4400" b="0" i="0" noProof="0" dirty="0">
                <a:solidFill>
                  <a:schemeClr val="bg1"/>
                </a:solidFill>
              </a:rPr>
            </a:br>
            <a:r>
              <a:rPr lang="en-US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US" sz="4400" b="0" i="0" u="none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are not </a:t>
            </a:r>
            <a:r>
              <a:rPr lang="en-US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 dirty="0">
                <a:solidFill>
                  <a:schemeClr val="bg1"/>
                </a:solidFill>
              </a:rPr>
            </a:br>
            <a:br>
              <a:rPr lang="en-US" sz="2800" b="0" noProof="0" dirty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Do not use </a:t>
            </a:r>
            <a:endParaRPr lang="en-US" sz="15000" b="1" i="0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 dirty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9CEE22D-3220-45C5-956C-5492E662463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559175" cy="98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2159599"/>
            <a:ext cx="11326613" cy="383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               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5, Header</a:t>
            </a:r>
          </a:p>
          <a:p>
            <a:pPr lvl="5"/>
            <a:r>
              <a:rPr lang="en-US" noProof="0" dirty="0"/>
              <a:t>Level 6, Body</a:t>
            </a:r>
          </a:p>
          <a:p>
            <a:pPr lvl="6"/>
            <a:r>
              <a:rPr lang="en-US" noProof="0" dirty="0"/>
              <a:t>Level 7, Report bullet</a:t>
            </a:r>
          </a:p>
          <a:p>
            <a:pPr lvl="7"/>
            <a:r>
              <a:rPr lang="en-US" noProof="0" dirty="0"/>
              <a:t>Level 8, Report Body</a:t>
            </a:r>
          </a:p>
          <a:p>
            <a:pPr lvl="8"/>
            <a:r>
              <a:rPr lang="en-US" noProof="0" dirty="0"/>
              <a:t>Level 9, Numbers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000" y="6271200"/>
            <a:ext cx="96976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884EAC1-8263-4023-A331-8499B85EDC7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400" y="6271200"/>
            <a:ext cx="7768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spcAft>
                <a:spcPts val="300"/>
              </a:spcAft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271200"/>
            <a:ext cx="64849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10000"/>
              </a:lnSpc>
              <a:defRPr sz="8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737" r:id="rId7"/>
    <p:sldLayoutId id="2147483766" r:id="rId8"/>
    <p:sldLayoutId id="2147483806" r:id="rId9"/>
    <p:sldLayoutId id="2147483731" r:id="rId10"/>
    <p:sldLayoutId id="2147483801" r:id="rId11"/>
    <p:sldLayoutId id="2147483802" r:id="rId12"/>
    <p:sldLayoutId id="2147483803" r:id="rId13"/>
    <p:sldLayoutId id="2147483805" r:id="rId14"/>
    <p:sldLayoutId id="2147483804" r:id="rId15"/>
    <p:sldLayoutId id="2147483732" r:id="rId16"/>
    <p:sldLayoutId id="2147483807" r:id="rId17"/>
    <p:sldLayoutId id="2147483848" r:id="rId18"/>
    <p:sldLayoutId id="2147483849" r:id="rId19"/>
    <p:sldLayoutId id="2147483755" r:id="rId20"/>
    <p:sldLayoutId id="2147483808" r:id="rId21"/>
    <p:sldLayoutId id="2147483812" r:id="rId22"/>
    <p:sldLayoutId id="2147483813" r:id="rId23"/>
    <p:sldLayoutId id="2147483772" r:id="rId24"/>
    <p:sldLayoutId id="2147483809" r:id="rId25"/>
    <p:sldLayoutId id="2147483810" r:id="rId26"/>
    <p:sldLayoutId id="2147483811" r:id="rId27"/>
    <p:sldLayoutId id="2147483818" r:id="rId28"/>
    <p:sldLayoutId id="2147483826" r:id="rId29"/>
    <p:sldLayoutId id="2147483827" r:id="rId30"/>
    <p:sldLayoutId id="2147483817" r:id="rId31"/>
    <p:sldLayoutId id="2147483816" r:id="rId32"/>
    <p:sldLayoutId id="2147483845" r:id="rId33"/>
    <p:sldLayoutId id="2147483820" r:id="rId34"/>
    <p:sldLayoutId id="2147483821" r:id="rId35"/>
    <p:sldLayoutId id="2147483819" r:id="rId36"/>
    <p:sldLayoutId id="2147483824" r:id="rId37"/>
    <p:sldLayoutId id="2147483825" r:id="rId38"/>
    <p:sldLayoutId id="2147483828" r:id="rId39"/>
    <p:sldLayoutId id="2147483829" r:id="rId40"/>
    <p:sldLayoutId id="2147483830" r:id="rId41"/>
    <p:sldLayoutId id="2147483831" r:id="rId42"/>
    <p:sldLayoutId id="2147483832" r:id="rId43"/>
    <p:sldLayoutId id="2147483833" r:id="rId44"/>
    <p:sldLayoutId id="2147483743" r:id="rId45"/>
    <p:sldLayoutId id="2147483834" r:id="rId46"/>
    <p:sldLayoutId id="2147483835" r:id="rId47"/>
    <p:sldLayoutId id="2147483837" r:id="rId48"/>
    <p:sldLayoutId id="2147483836" r:id="rId49"/>
    <p:sldLayoutId id="2147483814" r:id="rId50"/>
    <p:sldLayoutId id="2147483815" r:id="rId51"/>
    <p:sldLayoutId id="2147483838" r:id="rId52"/>
    <p:sldLayoutId id="2147483839" r:id="rId53"/>
    <p:sldLayoutId id="2147483840" r:id="rId54"/>
    <p:sldLayoutId id="2147483841" r:id="rId55"/>
    <p:sldLayoutId id="2147483847" r:id="rId56"/>
    <p:sldLayoutId id="2147483844" r:id="rId57"/>
    <p:sldLayoutId id="2147483842" r:id="rId58"/>
    <p:sldLayoutId id="2147483843" r:id="rId59"/>
    <p:sldLayoutId id="2147483768" r:id="rId60"/>
    <p:sldLayoutId id="2147483744" r:id="rId61"/>
    <p:sldLayoutId id="2147483846" r:id="rId62"/>
    <p:sldLayoutId id="2147483751" r:id="rId6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6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400" kern="1200" cap="none" baseline="0">
          <a:solidFill>
            <a:schemeClr val="tx1"/>
          </a:solidFill>
          <a:latin typeface="+mn-lt"/>
          <a:ea typeface="+mn-ea"/>
          <a:cs typeface="KONE Information" panose="020B0603040000020003" pitchFamily="34" charset="-79"/>
        </a:defRPr>
      </a:lvl6pPr>
      <a:lvl7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1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400" kern="1200" cap="all" spc="-60" baseline="0">
          <a:solidFill>
            <a:srgbClr val="1450F5"/>
          </a:solidFill>
          <a:latin typeface="KONE Information" panose="020B0603040000020003" pitchFamily="34" charset="-79"/>
          <a:ea typeface="+mn-ea"/>
          <a:cs typeface="KONE Information" panose="020B0603040000020003" pitchFamily="34" charset="-79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9" userDrawn="1">
          <p15:clr>
            <a:srgbClr val="A4A3A4"/>
          </p15:clr>
        </p15:guide>
        <p15:guide id="2" pos="883" userDrawn="1">
          <p15:clr>
            <a:srgbClr val="A4A3A4"/>
          </p15:clr>
        </p15:guide>
        <p15:guide id="3" orient="horz" pos="272" userDrawn="1">
          <p15:clr>
            <a:srgbClr val="A4A3A4"/>
          </p15:clr>
        </p15:guide>
        <p15:guide id="4" orient="horz" pos="4047" userDrawn="1">
          <p15:clr>
            <a:srgbClr val="A4A3A4"/>
          </p15:clr>
        </p15:guide>
        <p15:guide id="5" pos="272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1291" userDrawn="1">
          <p15:clr>
            <a:srgbClr val="A4A3A4"/>
          </p15:clr>
        </p15:guide>
        <p15:guide id="8" pos="1495" userDrawn="1">
          <p15:clr>
            <a:srgbClr val="A4A3A4"/>
          </p15:clr>
        </p15:guide>
        <p15:guide id="9" pos="1902" userDrawn="1">
          <p15:clr>
            <a:srgbClr val="A4A3A4"/>
          </p15:clr>
        </p15:guide>
        <p15:guide id="10" pos="2107" userDrawn="1">
          <p15:clr>
            <a:srgbClr val="A4A3A4"/>
          </p15:clr>
        </p15:guide>
        <p15:guide id="11" pos="2514" userDrawn="1">
          <p15:clr>
            <a:srgbClr val="A4A3A4"/>
          </p15:clr>
        </p15:guide>
        <p15:guide id="12" pos="2718" userDrawn="1">
          <p15:clr>
            <a:srgbClr val="A4A3A4"/>
          </p15:clr>
        </p15:guide>
        <p15:guide id="13" pos="3126" userDrawn="1">
          <p15:clr>
            <a:srgbClr val="A4A3A4"/>
          </p15:clr>
        </p15:guide>
        <p15:guide id="14" pos="3330" userDrawn="1">
          <p15:clr>
            <a:srgbClr val="A4A3A4"/>
          </p15:clr>
        </p15:guide>
        <p15:guide id="15" pos="3737" userDrawn="1">
          <p15:clr>
            <a:srgbClr val="A4A3A4"/>
          </p15:clr>
        </p15:guide>
        <p15:guide id="16" pos="3941" userDrawn="1">
          <p15:clr>
            <a:srgbClr val="A4A3A4"/>
          </p15:clr>
        </p15:guide>
        <p15:guide id="17" pos="4349" userDrawn="1">
          <p15:clr>
            <a:srgbClr val="A4A3A4"/>
          </p15:clr>
        </p15:guide>
        <p15:guide id="18" pos="4553" userDrawn="1">
          <p15:clr>
            <a:srgbClr val="A4A3A4"/>
          </p15:clr>
        </p15:guide>
        <p15:guide id="19" pos="4961" userDrawn="1">
          <p15:clr>
            <a:srgbClr val="A4A3A4"/>
          </p15:clr>
        </p15:guide>
        <p15:guide id="20" pos="5165" userDrawn="1">
          <p15:clr>
            <a:srgbClr val="A4A3A4"/>
          </p15:clr>
        </p15:guide>
        <p15:guide id="21" pos="5572" userDrawn="1">
          <p15:clr>
            <a:srgbClr val="A4A3A4"/>
          </p15:clr>
        </p15:guide>
        <p15:guide id="22" pos="5776" userDrawn="1">
          <p15:clr>
            <a:srgbClr val="A4A3A4"/>
          </p15:clr>
        </p15:guide>
        <p15:guide id="23" pos="6184" userDrawn="1">
          <p15:clr>
            <a:srgbClr val="A4A3A4"/>
          </p15:clr>
        </p15:guide>
        <p15:guide id="24" pos="6388" userDrawn="1">
          <p15:clr>
            <a:srgbClr val="A4A3A4"/>
          </p15:clr>
        </p15:guide>
        <p15:guide id="25" pos="6795" userDrawn="1">
          <p15:clr>
            <a:srgbClr val="A4A3A4"/>
          </p15:clr>
        </p15:guide>
        <p15:guide id="26" pos="7000" userDrawn="1">
          <p15:clr>
            <a:srgbClr val="A4A3A4"/>
          </p15:clr>
        </p15:guide>
        <p15:guide id="27" orient="horz" pos="544" userDrawn="1">
          <p15:clr>
            <a:srgbClr val="A4A3A4"/>
          </p15:clr>
        </p15:guide>
        <p15:guide id="28" orient="horz" pos="816" userDrawn="1">
          <p15:clr>
            <a:srgbClr val="A4A3A4"/>
          </p15:clr>
        </p15:guide>
        <p15:guide id="29" orient="horz" pos="1088" userDrawn="1">
          <p15:clr>
            <a:srgbClr val="A4A3A4"/>
          </p15:clr>
        </p15:guide>
        <p15:guide id="30" orient="horz" pos="3775" userDrawn="1">
          <p15:clr>
            <a:srgbClr val="A4A3A4"/>
          </p15:clr>
        </p15:guide>
        <p15:guide id="31" orient="horz" pos="3503" userDrawn="1">
          <p15:clr>
            <a:srgbClr val="A4A3A4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image" Target="../media/image2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jpg"/><Relationship Id="rId3" Type="http://schemas.openxmlformats.org/officeDocument/2006/relationships/image" Target="../media/image82.png"/><Relationship Id="rId4" Type="http://schemas.openxmlformats.org/officeDocument/2006/relationships/image" Target="../media/image8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8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8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8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1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car, person&#10;&#10;Description automatically generated">
            <a:extLst>
              <a:ext uri="{FF2B5EF4-FFF2-40B4-BE49-F238E27FC236}">
                <a16:creationId xmlns:a16="http://schemas.microsoft.com/office/drawing/2014/main" id="{69303333-FB78-320C-6D90-47F7E99CB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A41A3E3-7473-9E86-F75A-8C0B7985E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0AACB-F014-12C3-E3BE-5CC4B4C56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EF643-1D7D-F68F-9912-772D85E9B2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75E1DC5-E3EB-8F28-CC30-65B82B26B0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4750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" name="Picture 1" descr="_img_35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1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4067175"/>
            <a:ext cx="6219825" cy="14763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5700" b="0">
                <a:solidFill>
                  <a:srgbClr val="141414"/>
                </a:solidFill>
                <a:latin typeface="Inter"/>
              </a:rPr>
              <a:t>I would like to share our plan of ONE Week MOD deployment with you</a:t>
            </a:r>
          </a:p>
        </p:txBody>
      </p:sp>
      <p:sp>
        <p:nvSpPr>
          <p:cNvPr id="4" name="Cut mask"/>
          <p:cNvSpPr/>
          <p:nvPr/>
        </p:nvSpPr>
        <p:spPr>
          <a:xfrm>
            <a:off x="0" y="2371725"/>
            <a:ext cx="2752725" cy="1647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t mask"/>
          <p:cNvSpPr/>
          <p:nvPr/>
        </p:nvSpPr>
        <p:spPr>
          <a:xfrm>
            <a:off x="27527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t mask"/>
          <p:cNvSpPr/>
          <p:nvPr/>
        </p:nvSpPr>
        <p:spPr>
          <a:xfrm>
            <a:off x="3143250" y="3067050"/>
            <a:ext cx="2752725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t mask"/>
          <p:cNvSpPr/>
          <p:nvPr/>
        </p:nvSpPr>
        <p:spPr>
          <a:xfrm>
            <a:off x="589597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ut mask"/>
          <p:cNvSpPr/>
          <p:nvPr/>
        </p:nvSpPr>
        <p:spPr>
          <a:xfrm>
            <a:off x="6286500" y="4010025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t mask"/>
          <p:cNvSpPr/>
          <p:nvPr/>
        </p:nvSpPr>
        <p:spPr>
          <a:xfrm>
            <a:off x="90392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t mask"/>
          <p:cNvSpPr/>
          <p:nvPr/>
        </p:nvSpPr>
        <p:spPr>
          <a:xfrm>
            <a:off x="9429750" y="3543300"/>
            <a:ext cx="276225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aglin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550" y="6029325"/>
            <a:ext cx="1266825" cy="428625"/>
          </a:xfrm>
          <a:prstGeom prst="rect">
            <a:avLst/>
          </a:prstGeom>
        </p:spPr>
      </p:pic>
      <p:pic>
        <p:nvPicPr>
          <p:cNvPr id="1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7152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5505450" cy="5048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400" b="0">
                <a:solidFill>
                  <a:srgbClr val="141414"/>
                </a:solidFill>
                <a:latin typeface="Inter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06680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175" y="110490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Go-live dates and how tickets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1914525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175" y="1952625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Channels in scope for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276225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175" y="280035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What sits outside HUB and Omnicom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3609975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175" y="3648075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Practicalities: media plans and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45770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175" y="449580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What we need from you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5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6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733550"/>
            <a:ext cx="3562350" cy="3238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0" b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4825" y="3019425"/>
            <a:ext cx="550545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TIMING AND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267075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200" b="0">
                <a:solidFill>
                  <a:srgbClr val="FFFFFF"/>
                </a:solidFill>
                <a:latin typeface="Inter"/>
              </a:rPr>
              <a:t>Go-live dates and how tickets flow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295400"/>
            <a:ext cx="11325225" cy="426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September 21 is the go-live for the six EUR frontlines and India, and it is non-negotiable.</a:t>
            </a:r>
          </a:p>
        </p:txBody>
      </p:sp>
      <p:pic>
        <p:nvPicPr>
          <p:cNvPr id="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4" y="432000"/>
            <a:ext cx="773998" cy="299738"/>
          </a:xfrm>
          <a:prstGeom prst="rect">
            <a:avLst/>
          </a:prstGeom>
        </p:spPr>
      </p:pic>
      <p:sp>
        <p:nvSpPr>
          <p:cNvPr id="5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6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447675"/>
            <a:ext cx="8734425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WAYS OF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866775"/>
            <a:ext cx="87344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50" b="0">
                <a:solidFill>
                  <a:srgbClr val="141414"/>
                </a:solidFill>
                <a:latin typeface="Inter"/>
              </a:rPr>
              <a:t>How the work reaches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162175"/>
            <a:ext cx="87344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Ajith raises the tickets in Jira, as usual.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Tickets are assigned to Aino for deployment.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Six EUR frontlines and India go live on September 21.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AME (US and CA) may follow later; date to be confirmed.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733550"/>
            <a:ext cx="3562350" cy="3238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0" b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4825" y="3019425"/>
            <a:ext cx="550545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267075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200" b="0">
                <a:solidFill>
                  <a:srgbClr val="FFFFFF"/>
                </a:solidFill>
                <a:latin typeface="Inter"/>
              </a:rPr>
              <a:t>Channels in scope for campaign setup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8734425" cy="6477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" b="0">
                <a:solidFill>
                  <a:srgbClr val="141414"/>
                </a:solidFill>
                <a:latin typeface="Inter"/>
              </a:rPr>
              <a:t>Campaigns we need you to set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857250"/>
            <a:ext cx="8734425" cy="3429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75" b="0">
                <a:solidFill>
                  <a:srgbClr val="141414"/>
                </a:solidFill>
                <a:latin typeface="Inter"/>
              </a:rPr>
              <a:t>Five channels, with channel-specific conditions on YouTube, Spotify and Google 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504950"/>
            <a:ext cx="87344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Meta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LinkedIn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YouTube: videos uploaded by frontlines or Global Comms to local and global channels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Spotify ads: Nordics only, so far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Google Ads Pmax and Search: all frontlines except DACH, which handles it locally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113252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50" b="0">
                <a:solidFill>
                  <a:srgbClr val="141414"/>
                </a:solidFill>
                <a:latin typeface="Inter"/>
              </a:rPr>
              <a:t>YouTube: which channel each frontline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5505450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LOCAL YOUTUBE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790700"/>
            <a:ext cx="5505450" cy="35433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DACH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Nordics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7925" y="1504950"/>
            <a:ext cx="5505450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GLOBAL YOUTUBE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7925" y="1790700"/>
            <a:ext cx="5505450" cy="35433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EEM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I&amp;I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FBL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AME, if they decide to use YouTube ads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9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0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733550"/>
            <a:ext cx="3562350" cy="3238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0" b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4825" y="3019425"/>
            <a:ext cx="550545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267075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200" b="0">
                <a:solidFill>
                  <a:srgbClr val="FFFFFF"/>
                </a:solidFill>
                <a:latin typeface="Inter"/>
              </a:rPr>
              <a:t>What sits outside HUB and Omnicom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11325225" cy="4286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400" b="0">
                <a:solidFill>
                  <a:srgbClr val="141414"/>
                </a:solidFill>
                <a:latin typeface="Inter"/>
              </a:rPr>
              <a:t>Out of scope for both HUB and Omnicom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Outdoor displays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EUR works directly with Dwise. No HUB or Omnicom involvement.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48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Account based advertising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48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EUR works directly with Dun &amp; Bradstreet.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10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Geofencing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10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Nordics handles this with a local agency.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1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2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733550"/>
            <a:ext cx="3562350" cy="3238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0" b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4825" y="3019425"/>
            <a:ext cx="550545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PRACTICALITIES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267075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200" b="0">
                <a:solidFill>
                  <a:srgbClr val="FFFFFF"/>
                </a:solidFill>
                <a:latin typeface="Inter"/>
              </a:rPr>
              <a:t>Media plans and assets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3562350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100" b="0">
                <a:solidFill>
                  <a:srgbClr val="141414"/>
                </a:solidFill>
                <a:latin typeface="Inter"/>
              </a:rPr>
              <a:t>Two practicalities to note 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3562350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The media plans are already done, and there will be no preview tool for this deployment. Everything you need arrives with the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4825" y="1504950"/>
            <a:ext cx="74390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Media plans are ready, so HUB will not request a new one in the tickets.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There will be no preview tool.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All assets are compiled in the localized content Excel files.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Those files include URLs with UTM parameters.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They also include DAM links to the localized assets.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450F5"/>
        </a:solidFill>
        <a:ln>
          <a:solidFill>
            <a:srgbClr val="1450F5"/>
          </a:solidFill>
        </a:ln>
      </a:spPr>
      <a:bodyPr lIns="72000" tIns="36000" rIns="72000" bIns="36000" rtlCol="0" anchor="ctr"/>
      <a:lstStyle>
        <a:defPPr algn="ctr">
          <a:lnSpc>
            <a:spcPct val="110000"/>
          </a:lnSpc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46800" rIns="90000" bIns="46800" rtlCol="0">
        <a:spAutoFit/>
      </a:bodyPr>
      <a:lstStyle>
        <a:defPPr marL="0" indent="0" algn="l" defTabSz="914400" rtl="0" eaLnBrk="1" latinLnBrk="0" hangingPunct="1">
          <a:lnSpc>
            <a:spcPct val="110000"/>
          </a:lnSpc>
          <a:spcBef>
            <a:spcPts val="300"/>
          </a:spcBef>
          <a:spcAft>
            <a:spcPts val="300"/>
          </a:spcAft>
          <a:buFontTx/>
          <a:buNone/>
          <a:defRPr sz="14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Kone PowerPoint template Latin.potx" id="{CFEE2599-F72A-43D7-9452-2DA2B02DCC06}" vid="{15484003-828D-4682-A724-48476F0362DF}"/>
    </a:ext>
  </a:extLst>
</a:theme>
</file>

<file path=ppt/theme/theme2.xml><?xml version="1.0" encoding="utf-8"?>
<a:theme xmlns:a="http://schemas.openxmlformats.org/drawingml/2006/main" name="Office-tema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9315a3d-10f3-4290-a9ac-f9b0ff3e5f5e">
      <Terms xmlns="http://schemas.microsoft.com/office/infopath/2007/PartnerControls"/>
    </lcf76f155ced4ddcb4097134ff3c332f>
    <TaxCatchAll xmlns="31583c00-91dc-4cbc-a08d-eb44bc0cfc09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1185E3773A142ADFF0DD3316D5858" ma:contentTypeVersion="20" ma:contentTypeDescription="Create a new document." ma:contentTypeScope="" ma:versionID="e587ae908042432edf45b3075c44b77f">
  <xsd:schema xmlns:xsd="http://www.w3.org/2001/XMLSchema" xmlns:xs="http://www.w3.org/2001/XMLSchema" xmlns:p="http://schemas.microsoft.com/office/2006/metadata/properties" xmlns:ns1="http://schemas.microsoft.com/sharepoint/v3" xmlns:ns2="29315a3d-10f3-4290-a9ac-f9b0ff3e5f5e" xmlns:ns3="5009a61c-9d0b-4b41-bb09-cf6818589286" xmlns:ns4="31583c00-91dc-4cbc-a08d-eb44bc0cfc09" targetNamespace="http://schemas.microsoft.com/office/2006/metadata/properties" ma:root="true" ma:fieldsID="b027b04da0d4c80534ee11be0b2a32bd" ns1:_="" ns2:_="" ns3:_="" ns4:_="">
    <xsd:import namespace="http://schemas.microsoft.com/sharepoint/v3"/>
    <xsd:import namespace="29315a3d-10f3-4290-a9ac-f9b0ff3e5f5e"/>
    <xsd:import namespace="5009a61c-9d0b-4b41-bb09-cf6818589286"/>
    <xsd:import namespace="31583c00-91dc-4cbc-a08d-eb44bc0cfc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15a3d-10f3-4290-a9ac-f9b0ff3e5f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03b1389-14e1-41a5-be6c-9f77b12621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9a61c-9d0b-4b41-bb09-cf68185892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83c00-91dc-4cbc-a08d-eb44bc0cfc0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93713ef-acc1-4ed5-a9b9-5073845a5478}" ma:internalName="TaxCatchAll" ma:showField="CatchAllData" ma:web="5009a61c-9d0b-4b41-bb09-cf6818589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E6433A-8CD8-42D5-BCB0-2B9A1CB6E6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9315a3d-10f3-4290-a9ac-f9b0ff3e5f5e"/>
    <ds:schemaRef ds:uri="31583c00-91dc-4cbc-a08d-eb44bc0cfc09"/>
  </ds:schemaRefs>
</ds:datastoreItem>
</file>

<file path=customXml/itemProps2.xml><?xml version="1.0" encoding="utf-8"?>
<ds:datastoreItem xmlns:ds="http://schemas.openxmlformats.org/officeDocument/2006/customXml" ds:itemID="{CEAEAE21-5629-49D5-ABA4-EC155181B3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C1866-ECBC-43E4-A690-59F5D54A64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9315a3d-10f3-4290-a9ac-f9b0ff3e5f5e"/>
    <ds:schemaRef ds:uri="5009a61c-9d0b-4b41-bb09-cf6818589286"/>
    <ds:schemaRef ds:uri="31583c00-91dc-4cbc-a08d-eb44bc0cf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KONE PowerPoint template (1)</Template>
  <TotalTime>0</TotalTime>
  <Words>834</Words>
  <Application>Microsoft Office PowerPoint</Application>
  <PresentationFormat>Widescreen</PresentationFormat>
  <Paragraphs>264</Paragraphs>
  <Slides>25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KONE Information</vt:lpstr>
      <vt:lpstr>Arial</vt:lpstr>
      <vt:lpstr>Inter</vt:lpstr>
      <vt:lpstr>Inter SemiBold</vt:lpstr>
      <vt:lpstr>Arial</vt:lpstr>
      <vt:lpstr>KONE</vt:lpstr>
      <vt:lpstr>Guiding principles to using  the KONE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Timeline</vt:lpstr>
      <vt:lpstr>Timeline</vt:lpstr>
      <vt:lpstr>Roadmap</vt:lpstr>
      <vt:lpstr>Project timeline</vt:lpstr>
      <vt:lpstr>Timeline</vt:lpstr>
      <vt:lpstr>Value proposition</vt:lpstr>
      <vt:lpstr>KONE icons For more information and material: brandbook.kone.com </vt:lpstr>
      <vt:lpstr>KONE numbers</vt:lpstr>
      <vt:lpstr>KONE illustrations For more information and material: brandbook.kone.com </vt:lpstr>
      <vt:lpstr>PowerPoint Presentation</vt:lpstr>
      <vt:lpstr>KONE colors</vt:lpstr>
      <vt:lpstr>Text &amp; typography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 Arvind</dc:creator>
  <cp:lastModifiedBy>L. Arvind</cp:lastModifiedBy>
  <cp:revision>1</cp:revision>
  <dcterms:created xsi:type="dcterms:W3CDTF">2026-07-23T02:36:03Z</dcterms:created>
  <dcterms:modified xsi:type="dcterms:W3CDTF">2026-07-23T02:36:25Z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ContentTypeId">
    <vt:lpwstr>0x010100CC41185E3773A142ADFF0DD3316D5858</vt:lpwstr>
  </property>
  <property fmtid="{D5CDD505-2E9C-101B-9397-08002B2CF9AE}" pid="4" name="ClassificationContentMarkingHeaderLocations">
    <vt:lpwstr>KONE:5</vt:lpwstr>
  </property>
  <property fmtid="{D5CDD505-2E9C-101B-9397-08002B2CF9AE}" pid="5" name="ClassificationContentMarkingHeaderText">
    <vt:lpwstr>KONE Internal</vt:lpwstr>
  </property>
</Properties>
</file>